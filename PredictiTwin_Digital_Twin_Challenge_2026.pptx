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PredictiTwin transforms fragmented patient data into a continuously updated digital representation. Our goal is to move healthcare toward earlier, personalized and explainable risk prediction.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Healthcare generates enormous amounts of data, but it is often fragmented across systems. PredictiTwin creates a unified, continuously updated patient model to identify meaningful changes over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PredictiTwin is not a static profile. It continuously evolves as new information arrives, compares current status with the patient’s history, and provides personalized, explainable risk intelligence.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architecture combines heterogeneous healthcare data into a unified feature layer. LSTM captures temporal patterns, XGBoost handles structured clinical factors, and SHAP makes predictions interpretable for clinicians.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PredictiTwin converts raw health data into actionable intelligence for patients, doctors and healthcare systems. It is designed as a clinical decision-support layer, with clinicians retaining responsibility for medical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propose a phased implementation: start with a focused clinical use case, validate the AI and explainability, test it in a controlled environment, and then scale across conditions and healthcare settings.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CD4"/>
                </a:solidFill>
                <a:latin typeface="Aptos"/>
              </a:rPr>
              <a:t>HAPPIEST HEALTH • DIGITAL TWIN CHALLENGE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6583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8FBFF"/>
                </a:solidFill>
                <a:latin typeface="Aptos"/>
              </a:rPr>
              <a:t>PredictiTwin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57400"/>
            <a:ext cx="6949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2EBF5"/>
                </a:solidFill>
                <a:latin typeface="Aptos"/>
              </a:rPr>
              <a:t>AI-Powered Digital Patient Twin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907792"/>
            <a:ext cx="62179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8FBFF"/>
                </a:solidFill>
                <a:latin typeface="Aptos"/>
              </a:rPr>
              <a:t>From reacting to illness</a:t>
            </a:r>
            <a:br/>
            <a:r>
              <a:rPr sz="2400" b="1">
                <a:solidFill>
                  <a:srgbClr val="F8FBFF"/>
                </a:solidFill>
                <a:latin typeface="Aptos"/>
              </a:rPr>
              <a:t>to predicting the patient’s next health event.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234440"/>
            <a:ext cx="3566160" cy="4251960"/>
          </a:xfrm>
          <a:prstGeom prst="roundRect">
            <a:avLst/>
          </a:prstGeom>
          <a:solidFill>
            <a:srgbClr val="142B46"/>
          </a:solidFill>
          <a:ln>
            <a:solidFill>
              <a:srgbClr val="30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99831" y="1344168"/>
            <a:ext cx="32369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BCD4"/>
                </a:solidFill>
                <a:latin typeface="Aptos"/>
              </a:rPr>
              <a:t>DIGITAL PATIENT TWIN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99831" y="1709928"/>
            <a:ext cx="3236976" cy="3685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2EBF5"/>
                </a:solidFill>
                <a:latin typeface="Aptos"/>
              </a:rPr>
              <a:t>EHR + Wearables + History</a:t>
            </a:r>
            <a:br/>
            <a:br/>
            <a:r>
              <a:rPr sz="1500" b="0">
                <a:solidFill>
                  <a:srgbClr val="E2EBF5"/>
                </a:solidFill>
                <a:latin typeface="Aptos"/>
              </a:rPr>
              <a:t>AI → Prediction → Explanation → 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48006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BBE8B"/>
                </a:solidFill>
                <a:latin typeface="Aptos"/>
              </a:rPr>
              <a:t>PATIENT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546811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7A5CE6"/>
                </a:solidFill>
                <a:latin typeface="Aptos"/>
              </a:rPr>
              <a:t>DIGITAL TWIN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BFF"/>
                </a:solidFill>
                <a:latin typeface="Aptos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00BCD4"/>
                </a:solidFill>
                <a:latin typeface="Aptos"/>
              </a:rPr>
              <a:t>Healthcare is reactive. Patient data is fragmented.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2514600" cy="1874519"/>
          </a:xfrm>
          <a:prstGeom prst="roundRect">
            <a:avLst/>
          </a:prstGeom>
          <a:solidFill>
            <a:srgbClr val="142B46"/>
          </a:solidFill>
          <a:ln>
            <a:solidFill>
              <a:srgbClr val="30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527048"/>
            <a:ext cx="2185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877F2"/>
                </a:solidFill>
                <a:latin typeface="Aptos"/>
              </a:rPr>
              <a:t>REACTIVE CARE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1892808"/>
            <a:ext cx="2185416" cy="1307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2EBF5"/>
                </a:solidFill>
                <a:latin typeface="Aptos"/>
              </a:rPr>
              <a:t>Intervention often begins after symptoms or deterioration appear.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417320"/>
            <a:ext cx="2514600" cy="1874519"/>
          </a:xfrm>
          <a:prstGeom prst="roundRect">
            <a:avLst/>
          </a:prstGeom>
          <a:solidFill>
            <a:srgbClr val="142B46"/>
          </a:solidFill>
          <a:ln>
            <a:solidFill>
              <a:srgbClr val="30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02152" y="1527048"/>
            <a:ext cx="2185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CD4"/>
                </a:solidFill>
                <a:latin typeface="Aptos"/>
              </a:rPr>
              <a:t>DATA SILOS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02152" y="1892808"/>
            <a:ext cx="2185416" cy="1307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2EBF5"/>
                </a:solidFill>
                <a:latin typeface="Aptos"/>
              </a:rPr>
              <a:t>EHRs, labs, prescriptions and wearables remain disconnected.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417320"/>
            <a:ext cx="2514600" cy="1874519"/>
          </a:xfrm>
          <a:prstGeom prst="roundRect">
            <a:avLst/>
          </a:prstGeom>
          <a:solidFill>
            <a:srgbClr val="142B46"/>
          </a:solidFill>
          <a:ln>
            <a:solidFill>
              <a:srgbClr val="30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9631" y="1527048"/>
            <a:ext cx="2185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A5CE6"/>
                </a:solidFill>
                <a:latin typeface="Aptos"/>
              </a:rPr>
              <a:t>ONE-SIZE-FITS-ALL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9631" y="1892808"/>
            <a:ext cx="2185416" cy="1307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2EBF5"/>
                </a:solidFill>
                <a:latin typeface="Aptos"/>
              </a:rPr>
              <a:t>Population guidelines may miss an individual’s changing risk.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32520" y="1417320"/>
            <a:ext cx="2514600" cy="1874519"/>
          </a:xfrm>
          <a:prstGeom prst="roundRect">
            <a:avLst/>
          </a:prstGeom>
          <a:solidFill>
            <a:srgbClr val="142B46"/>
          </a:solidFill>
          <a:ln>
            <a:solidFill>
              <a:srgbClr val="30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97112" y="1527048"/>
            <a:ext cx="2185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BBE8B"/>
                </a:solidFill>
                <a:latin typeface="Aptos"/>
              </a:rPr>
              <a:t>BLACK BOX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97112" y="1892808"/>
            <a:ext cx="2185416" cy="1307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2EBF5"/>
                </a:solidFill>
                <a:latin typeface="Aptos"/>
              </a:rPr>
              <a:t>Unexplained predictions can reduce clinical trust.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977639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8FBFF"/>
                </a:solidFill>
                <a:latin typeface="Aptos"/>
              </a:rPr>
              <a:t>The data exists — but the intelligence is disconnected.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800600"/>
            <a:ext cx="1828800" cy="685800"/>
          </a:xfrm>
          <a:prstGeom prst="roundRect">
            <a:avLst/>
          </a:prstGeom>
          <a:solidFill>
            <a:srgbClr val="142B46"/>
          </a:solidFill>
          <a:ln>
            <a:solidFill>
              <a:srgbClr val="30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4910328"/>
            <a:ext cx="14996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CD4"/>
                </a:solidFill>
                <a:latin typeface="Aptos"/>
              </a:rPr>
              <a:t>EHR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66160" y="4800600"/>
            <a:ext cx="1828800" cy="685800"/>
          </a:xfrm>
          <a:prstGeom prst="roundRect">
            <a:avLst/>
          </a:prstGeom>
          <a:solidFill>
            <a:srgbClr val="142B46"/>
          </a:solidFill>
          <a:ln>
            <a:solidFill>
              <a:srgbClr val="30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30752" y="4910328"/>
            <a:ext cx="14996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CD4"/>
                </a:solidFill>
                <a:latin typeface="Aptos"/>
              </a:rPr>
              <a:t>LABS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4800600"/>
            <a:ext cx="1828800" cy="685800"/>
          </a:xfrm>
          <a:prstGeom prst="roundRect">
            <a:avLst/>
          </a:prstGeom>
          <a:solidFill>
            <a:srgbClr val="142B46"/>
          </a:solidFill>
          <a:ln>
            <a:solidFill>
              <a:srgbClr val="30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82512" y="4910328"/>
            <a:ext cx="14996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CD4"/>
                </a:solidFill>
                <a:latin typeface="Aptos"/>
              </a:rPr>
              <a:t>WEARABLES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69680" y="4800600"/>
            <a:ext cx="1828800" cy="685800"/>
          </a:xfrm>
          <a:prstGeom prst="roundRect">
            <a:avLst/>
          </a:prstGeom>
          <a:solidFill>
            <a:srgbClr val="142B46"/>
          </a:solidFill>
          <a:ln>
            <a:solidFill>
              <a:srgbClr val="30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34272" y="4910328"/>
            <a:ext cx="14996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CD4"/>
                </a:solidFill>
                <a:latin typeface="Aptos"/>
              </a:rPr>
              <a:t>HISTORY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5715000"/>
            <a:ext cx="8778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1A5B9"/>
                </a:solidFill>
                <a:latin typeface="Aptos"/>
              </a:rPr>
              <a:t>→ fragmented information → delayed / incomplete clinical picture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BFF"/>
                </a:solidFill>
                <a:latin typeface="Aptos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00BCD4"/>
                </a:solidFill>
                <a:latin typeface="Aptos"/>
              </a:rPr>
              <a:t>One patient. One evolving health model. Continuous risk intelligence.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2148840" cy="2560320"/>
          </a:xfrm>
          <a:prstGeom prst="roundRect">
            <a:avLst/>
          </a:prstGeom>
          <a:solidFill>
            <a:srgbClr val="142B46"/>
          </a:solidFill>
          <a:ln>
            <a:solidFill>
              <a:srgbClr val="30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938528"/>
            <a:ext cx="18196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877F2"/>
                </a:solidFill>
                <a:latin typeface="Aptos"/>
              </a:rPr>
              <a:t>BUILD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2304288"/>
            <a:ext cx="1819656" cy="1993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2EBF5"/>
                </a:solidFill>
                <a:latin typeface="Aptos"/>
              </a:rPr>
              <a:t>Combine clinical, wearable and historical data.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52628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1A5B9"/>
                </a:solidFill>
                <a:latin typeface="Aptos"/>
              </a:rPr>
              <a:t>01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51760" y="3063240"/>
            <a:ext cx="274320" cy="0"/>
          </a:xfrm>
          <a:prstGeom prst="line">
            <a:avLst/>
          </a:prstGeom>
          <a:ln w="25400">
            <a:solidFill>
              <a:srgbClr val="00B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834639" y="1828800"/>
            <a:ext cx="2148840" cy="2560320"/>
          </a:xfrm>
          <a:prstGeom prst="roundRect">
            <a:avLst/>
          </a:prstGeom>
          <a:solidFill>
            <a:srgbClr val="142B46"/>
          </a:solidFill>
          <a:ln>
            <a:solidFill>
              <a:srgbClr val="30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99232" y="1938528"/>
            <a:ext cx="18196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CD4"/>
                </a:solidFill>
                <a:latin typeface="Aptos"/>
              </a:rPr>
              <a:t>UPDATE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9232" y="2304288"/>
            <a:ext cx="1819656" cy="1993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2EBF5"/>
                </a:solidFill>
                <a:latin typeface="Aptos"/>
              </a:rPr>
              <a:t>Continuously refresh the patient state.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799" y="452628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1A5B9"/>
                </a:solidFill>
                <a:latin typeface="Aptos"/>
              </a:rPr>
              <a:t>02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983479" y="3063240"/>
            <a:ext cx="274321" cy="0"/>
          </a:xfrm>
          <a:prstGeom prst="line">
            <a:avLst/>
          </a:prstGeom>
          <a:ln w="25400">
            <a:solidFill>
              <a:srgbClr val="00B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166359" y="1828800"/>
            <a:ext cx="2148840" cy="2560320"/>
          </a:xfrm>
          <a:prstGeom prst="roundRect">
            <a:avLst/>
          </a:prstGeom>
          <a:solidFill>
            <a:srgbClr val="142B46"/>
          </a:solidFill>
          <a:ln>
            <a:solidFill>
              <a:srgbClr val="30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30951" y="1938528"/>
            <a:ext cx="18196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A5CE6"/>
                </a:solidFill>
                <a:latin typeface="Aptos"/>
              </a:rPr>
              <a:t>PREDICT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0951" y="2304288"/>
            <a:ext cx="1819656" cy="1993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2EBF5"/>
                </a:solidFill>
                <a:latin typeface="Aptos"/>
              </a:rPr>
              <a:t>Estimate near-term risks and trends.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452628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1A5B9"/>
                </a:solidFill>
                <a:latin typeface="Aptos"/>
              </a:rPr>
              <a:t>03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315200" y="3063240"/>
            <a:ext cx="274319" cy="0"/>
          </a:xfrm>
          <a:prstGeom prst="line">
            <a:avLst/>
          </a:prstGeom>
          <a:ln w="25400">
            <a:solidFill>
              <a:srgbClr val="00B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498079" y="1828800"/>
            <a:ext cx="2148840" cy="2560320"/>
          </a:xfrm>
          <a:prstGeom prst="roundRect">
            <a:avLst/>
          </a:prstGeom>
          <a:solidFill>
            <a:srgbClr val="142B46"/>
          </a:solidFill>
          <a:ln>
            <a:solidFill>
              <a:srgbClr val="30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62671" y="1938528"/>
            <a:ext cx="18196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BBE8B"/>
                </a:solidFill>
                <a:latin typeface="Aptos"/>
              </a:rPr>
              <a:t>EXPLAIN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62671" y="2304288"/>
            <a:ext cx="1819656" cy="1993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2EBF5"/>
                </a:solidFill>
                <a:latin typeface="Aptos"/>
              </a:rPr>
              <a:t>Show the factors behind each signal.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40" y="452628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1A5B9"/>
                </a:solidFill>
                <a:latin typeface="Aptos"/>
              </a:rPr>
              <a:t>04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646919" y="3063240"/>
            <a:ext cx="274321" cy="0"/>
          </a:xfrm>
          <a:prstGeom prst="line">
            <a:avLst/>
          </a:prstGeom>
          <a:ln w="25400">
            <a:solidFill>
              <a:srgbClr val="00B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829800" y="1828800"/>
            <a:ext cx="2148840" cy="2560320"/>
          </a:xfrm>
          <a:prstGeom prst="roundRect">
            <a:avLst/>
          </a:prstGeom>
          <a:solidFill>
            <a:srgbClr val="142B46"/>
          </a:solidFill>
          <a:ln>
            <a:solidFill>
              <a:srgbClr val="30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94392" y="1938528"/>
            <a:ext cx="18196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877F2"/>
                </a:solidFill>
                <a:latin typeface="Aptos"/>
              </a:rPr>
              <a:t>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94392" y="2304288"/>
            <a:ext cx="1819656" cy="1993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2EBF5"/>
                </a:solidFill>
                <a:latin typeface="Aptos"/>
              </a:rPr>
              <a:t>Support earlier monitoring and intervention.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60" y="452628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1A5B9"/>
                </a:solidFill>
                <a:latin typeface="Aptos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48640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8FBFF"/>
                </a:solidFill>
                <a:latin typeface="Aptos"/>
              </a:rPr>
              <a:t>REAL PATIENT  →  DIGITAL TWIN  →  RISK PREDICTION  →  CLINICIAN INSIGHT  →  ACTION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BFF"/>
                </a:solidFill>
                <a:latin typeface="Aptos"/>
              </a:rPr>
              <a:t>Technical Architecture &amp; ML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00BCD4"/>
                </a:solidFill>
                <a:latin typeface="Aptos"/>
              </a:rPr>
              <a:t>Multi-modal data + hybrid AI = explainable prediction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828800" cy="658368"/>
          </a:xfrm>
          <a:prstGeom prst="roundRect">
            <a:avLst/>
          </a:prstGeom>
          <a:solidFill>
            <a:srgbClr val="142B46"/>
          </a:solidFill>
          <a:ln>
            <a:solidFill>
              <a:srgbClr val="30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527048"/>
            <a:ext cx="14996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CD4"/>
                </a:solidFill>
                <a:latin typeface="Aptos"/>
              </a:rPr>
              <a:t>EHR / EMR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31720"/>
            <a:ext cx="1828800" cy="658368"/>
          </a:xfrm>
          <a:prstGeom prst="roundRect">
            <a:avLst/>
          </a:prstGeom>
          <a:solidFill>
            <a:srgbClr val="142B46"/>
          </a:solidFill>
          <a:ln>
            <a:solidFill>
              <a:srgbClr val="30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2441448"/>
            <a:ext cx="14996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CD4"/>
                </a:solidFill>
                <a:latin typeface="Aptos"/>
              </a:rPr>
              <a:t>Labs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246120"/>
            <a:ext cx="1828800" cy="658368"/>
          </a:xfrm>
          <a:prstGeom prst="roundRect">
            <a:avLst/>
          </a:prstGeom>
          <a:solidFill>
            <a:srgbClr val="142B46"/>
          </a:solidFill>
          <a:ln>
            <a:solidFill>
              <a:srgbClr val="30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3355848"/>
            <a:ext cx="14996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CD4"/>
                </a:solidFill>
                <a:latin typeface="Aptos"/>
              </a:rPr>
              <a:t>Wearables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160520"/>
            <a:ext cx="1828800" cy="658368"/>
          </a:xfrm>
          <a:prstGeom prst="roundRect">
            <a:avLst/>
          </a:prstGeom>
          <a:solidFill>
            <a:srgbClr val="142B46"/>
          </a:solidFill>
          <a:ln>
            <a:solidFill>
              <a:srgbClr val="30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" y="4270248"/>
            <a:ext cx="14996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CD4"/>
                </a:solidFill>
                <a:latin typeface="Aptos"/>
              </a:rPr>
              <a:t>Patient History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71800" y="2057400"/>
            <a:ext cx="1965960" cy="2194560"/>
          </a:xfrm>
          <a:prstGeom prst="roundRect">
            <a:avLst/>
          </a:prstGeom>
          <a:solidFill>
            <a:srgbClr val="142B46"/>
          </a:solidFill>
          <a:ln>
            <a:solidFill>
              <a:srgbClr val="30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36392" y="2167128"/>
            <a:ext cx="16367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877F2"/>
                </a:solidFill>
                <a:latin typeface="Aptos"/>
              </a:rPr>
              <a:t>DATA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36392" y="2532888"/>
            <a:ext cx="1636776" cy="1627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BF5"/>
                </a:solidFill>
                <a:latin typeface="Aptos"/>
              </a:rPr>
              <a:t>Cleaning</a:t>
            </a:r>
            <a:br/>
            <a:r>
              <a:rPr sz="1100" b="0">
                <a:solidFill>
                  <a:srgbClr val="E2EBF5"/>
                </a:solidFill>
                <a:latin typeface="Aptos"/>
              </a:rPr>
              <a:t>Normalization</a:t>
            </a:r>
            <a:br/>
            <a:r>
              <a:rPr sz="1100" b="0">
                <a:solidFill>
                  <a:srgbClr val="E2EBF5"/>
                </a:solidFill>
                <a:latin typeface="Aptos"/>
              </a:rPr>
              <a:t>Temporal alignment</a:t>
            </a:r>
            <a:br/>
            <a:r>
              <a:rPr sz="1100" b="0">
                <a:solidFill>
                  <a:srgbClr val="E2EBF5"/>
                </a:solidFill>
                <a:latin typeface="Aptos"/>
              </a:rPr>
              <a:t>Feature engineering</a:t>
            </a:r>
            <a:br/>
            <a:r>
              <a:rPr sz="1100" b="0">
                <a:solidFill>
                  <a:srgbClr val="E2EBF5"/>
                </a:solidFill>
                <a:latin typeface="Aptos"/>
              </a:rPr>
              <a:t>Patient baseline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0" y="1417320"/>
            <a:ext cx="2148840" cy="1554480"/>
          </a:xfrm>
          <a:prstGeom prst="roundRect">
            <a:avLst/>
          </a:prstGeom>
          <a:solidFill>
            <a:srgbClr val="142B46"/>
          </a:solidFill>
          <a:ln>
            <a:solidFill>
              <a:srgbClr val="30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50992" y="1527048"/>
            <a:ext cx="18196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7A5CE6"/>
                </a:solidFill>
                <a:latin typeface="Aptos"/>
              </a:rPr>
              <a:t>LSTM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50992" y="1892808"/>
            <a:ext cx="1819656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BF5"/>
                </a:solidFill>
                <a:latin typeface="Aptos"/>
              </a:rPr>
              <a:t>Learns temporal patterns from sequential health and wearable signals.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0" y="3246120"/>
            <a:ext cx="2148840" cy="1554480"/>
          </a:xfrm>
          <a:prstGeom prst="roundRect">
            <a:avLst/>
          </a:prstGeom>
          <a:solidFill>
            <a:srgbClr val="142B46"/>
          </a:solidFill>
          <a:ln>
            <a:solidFill>
              <a:srgbClr val="30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50992" y="3355848"/>
            <a:ext cx="18196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BBE8B"/>
                </a:solidFill>
                <a:latin typeface="Aptos"/>
              </a:rPr>
              <a:t>XGBOOST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50992" y="3721608"/>
            <a:ext cx="1819656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BF5"/>
                </a:solidFill>
                <a:latin typeface="Aptos"/>
              </a:rPr>
              <a:t>Models structured clinical features for patient-specific risk prediction.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83879" y="2057400"/>
            <a:ext cx="1965960" cy="2194560"/>
          </a:xfrm>
          <a:prstGeom prst="roundRect">
            <a:avLst/>
          </a:prstGeom>
          <a:solidFill>
            <a:srgbClr val="142B46"/>
          </a:solidFill>
          <a:ln>
            <a:solidFill>
              <a:srgbClr val="30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48471" y="2167128"/>
            <a:ext cx="16367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CD4"/>
                </a:solidFill>
                <a:latin typeface="Aptos"/>
              </a:rPr>
              <a:t>SHAP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48471" y="2532888"/>
            <a:ext cx="1636776" cy="1627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BF5"/>
                </a:solidFill>
                <a:latin typeface="Aptos"/>
              </a:rPr>
              <a:t>Explains feature contribution behind each prediction.</a:t>
            </a:r>
            <a:br/>
            <a:br/>
            <a:r>
              <a:rPr sz="1100" b="0">
                <a:solidFill>
                  <a:srgbClr val="E2EBF5"/>
                </a:solidFill>
                <a:latin typeface="Aptos"/>
              </a:rPr>
              <a:t>Transparency &amp; clinician trust.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469880" y="2057400"/>
            <a:ext cx="1097280" cy="2194560"/>
          </a:xfrm>
          <a:prstGeom prst="roundRect">
            <a:avLst/>
          </a:prstGeom>
          <a:solidFill>
            <a:srgbClr val="142B46"/>
          </a:solidFill>
          <a:ln>
            <a:solidFill>
              <a:srgbClr val="30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634472" y="2167128"/>
            <a:ext cx="7680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BBE8B"/>
                </a:solidFill>
                <a:latin typeface="Aptos"/>
              </a:rPr>
              <a:t>OUTPUT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34472" y="2532888"/>
            <a:ext cx="768096" cy="1627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BF5"/>
                </a:solidFill>
                <a:latin typeface="Aptos"/>
              </a:rPr>
              <a:t>Risk</a:t>
            </a:r>
            <a:br/>
            <a:r>
              <a:rPr sz="1100" b="0">
                <a:solidFill>
                  <a:srgbClr val="E2EBF5"/>
                </a:solidFill>
                <a:latin typeface="Aptos"/>
              </a:rPr>
              <a:t>Trend</a:t>
            </a:r>
            <a:br/>
            <a:r>
              <a:rPr sz="1100" b="0">
                <a:solidFill>
                  <a:srgbClr val="E2EBF5"/>
                </a:solidFill>
                <a:latin typeface="Aptos"/>
              </a:rPr>
              <a:t>Factors</a:t>
            </a:r>
            <a:br/>
            <a:r>
              <a:rPr sz="1100" b="0">
                <a:solidFill>
                  <a:srgbClr val="E2EBF5"/>
                </a:solidFill>
                <a:latin typeface="Aptos"/>
              </a:rPr>
              <a:t>Alerts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BFF"/>
                </a:solidFill>
                <a:latin typeface="Aptos"/>
              </a:rPr>
              <a:t>Value Proposition &amp; Clinical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00BCD4"/>
                </a:solidFill>
                <a:latin typeface="Aptos"/>
              </a:rPr>
              <a:t>Turning patient data into actionable intelligence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474720" cy="3566160"/>
          </a:xfrm>
          <a:prstGeom prst="roundRect">
            <a:avLst/>
          </a:prstGeom>
          <a:solidFill>
            <a:srgbClr val="142B46"/>
          </a:solidFill>
          <a:ln>
            <a:solidFill>
              <a:srgbClr val="30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527048"/>
            <a:ext cx="31455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BBE8B"/>
                </a:solidFill>
                <a:latin typeface="Aptos"/>
              </a:rPr>
              <a:t>PATIENTS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1892808"/>
            <a:ext cx="3145536" cy="2999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EBF5"/>
                </a:solidFill>
                <a:latin typeface="Aptos"/>
              </a:rPr>
              <a:t>• Earlier awareness of potential deterioration</a:t>
            </a:r>
            <a:br/>
            <a:r>
              <a:rPr sz="1300" b="0">
                <a:solidFill>
                  <a:srgbClr val="E2EBF5"/>
                </a:solidFill>
                <a:latin typeface="Aptos"/>
              </a:rPr>
              <a:t>• Personalized health monitoring</a:t>
            </a:r>
            <a:br/>
            <a:r>
              <a:rPr sz="1300" b="0">
                <a:solidFill>
                  <a:srgbClr val="E2EBF5"/>
                </a:solidFill>
                <a:latin typeface="Aptos"/>
              </a:rPr>
              <a:t>• Continuous tracking beyond visits</a:t>
            </a:r>
            <a:br/>
            <a:r>
              <a:rPr sz="1300" b="0">
                <a:solidFill>
                  <a:srgbClr val="E2EBF5"/>
                </a:solidFill>
                <a:latin typeface="Aptos"/>
              </a:rPr>
              <a:t>• Better understanding of health trends</a:t>
            </a:r>
            <a:br/>
            <a:r>
              <a:rPr sz="1300" b="0">
                <a:solidFill>
                  <a:srgbClr val="E2EBF5"/>
                </a:solidFill>
                <a:latin typeface="Aptos"/>
              </a:rPr>
              <a:t>• Supports preventive care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17320"/>
            <a:ext cx="3474720" cy="3566160"/>
          </a:xfrm>
          <a:prstGeom prst="roundRect">
            <a:avLst/>
          </a:prstGeom>
          <a:solidFill>
            <a:srgbClr val="142B46"/>
          </a:solidFill>
          <a:ln>
            <a:solidFill>
              <a:srgbClr val="30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7992" y="1527048"/>
            <a:ext cx="31455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877F2"/>
                </a:solidFill>
                <a:latin typeface="Aptos"/>
              </a:rPr>
              <a:t>DOCTORS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7992" y="1892808"/>
            <a:ext cx="3145536" cy="2999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EBF5"/>
                </a:solidFill>
                <a:latin typeface="Aptos"/>
              </a:rPr>
              <a:t>• Unified longitudinal patient view</a:t>
            </a:r>
            <a:br/>
            <a:r>
              <a:rPr sz="1300" b="0">
                <a:solidFill>
                  <a:srgbClr val="E2EBF5"/>
                </a:solidFill>
                <a:latin typeface="Aptos"/>
              </a:rPr>
              <a:t>• Risk prioritization</a:t>
            </a:r>
            <a:br/>
            <a:r>
              <a:rPr sz="1300" b="0">
                <a:solidFill>
                  <a:srgbClr val="E2EBF5"/>
                </a:solidFill>
                <a:latin typeface="Aptos"/>
              </a:rPr>
              <a:t>• Early-warning signals</a:t>
            </a:r>
            <a:br/>
            <a:r>
              <a:rPr sz="1300" b="0">
                <a:solidFill>
                  <a:srgbClr val="E2EBF5"/>
                </a:solidFill>
                <a:latin typeface="Aptos"/>
              </a:rPr>
              <a:t>• Explainable AI alerts</a:t>
            </a:r>
            <a:br/>
            <a:r>
              <a:rPr sz="1300" b="0">
                <a:solidFill>
                  <a:srgbClr val="E2EBF5"/>
                </a:solidFill>
                <a:latin typeface="Aptos"/>
              </a:rPr>
              <a:t>• Supports clinical judgment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17320"/>
            <a:ext cx="3474720" cy="3566160"/>
          </a:xfrm>
          <a:prstGeom prst="roundRect">
            <a:avLst/>
          </a:prstGeom>
          <a:solidFill>
            <a:srgbClr val="142B46"/>
          </a:solidFill>
          <a:ln>
            <a:solidFill>
              <a:srgbClr val="30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1312" y="1527048"/>
            <a:ext cx="31455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7A5CE6"/>
                </a:solidFill>
                <a:latin typeface="Aptos"/>
              </a:rPr>
              <a:t>HEALTHCARE SYSTEMS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11312" y="1892808"/>
            <a:ext cx="3145536" cy="2999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EBF5"/>
                </a:solidFill>
                <a:latin typeface="Aptos"/>
              </a:rPr>
              <a:t>• Better use of clinical data</a:t>
            </a:r>
            <a:br/>
            <a:r>
              <a:rPr sz="1300" b="0">
                <a:solidFill>
                  <a:srgbClr val="E2EBF5"/>
                </a:solidFill>
                <a:latin typeface="Aptos"/>
              </a:rPr>
              <a:t>• Proactive care pathways</a:t>
            </a:r>
            <a:br/>
            <a:r>
              <a:rPr sz="1300" b="0">
                <a:solidFill>
                  <a:srgbClr val="E2EBF5"/>
                </a:solidFill>
                <a:latin typeface="Aptos"/>
              </a:rPr>
              <a:t>• Scalable monitoring infrastructure</a:t>
            </a:r>
            <a:br/>
            <a:r>
              <a:rPr sz="1300" b="0">
                <a:solidFill>
                  <a:srgbClr val="E2EBF5"/>
                </a:solidFill>
                <a:latin typeface="Aptos"/>
              </a:rPr>
              <a:t>• Risk stratification</a:t>
            </a:r>
            <a:br/>
            <a:r>
              <a:rPr sz="1300" b="0">
                <a:solidFill>
                  <a:srgbClr val="E2EBF5"/>
                </a:solidFill>
                <a:latin typeface="Aptos"/>
              </a:rPr>
              <a:t>• Data-driven prevention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5778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BCD4"/>
                </a:solidFill>
                <a:latin typeface="Aptos"/>
              </a:rPr>
              <a:t>FRAGMENTED DATA     →     DIGITAL TWIN     →     RISK INTELLIGENCE     →     CLINICAL ATTENTION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BFF"/>
                </a:solidFill>
                <a:latin typeface="Aptos"/>
              </a:rPr>
              <a:t>Implementation Roadmap &amp;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00BCD4"/>
                </a:solidFill>
                <a:latin typeface="Aptos"/>
              </a:rPr>
              <a:t>Start focused. Validate clinically. Scale responsibly.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2697480" cy="3337560"/>
          </a:xfrm>
          <a:prstGeom prst="roundRect">
            <a:avLst/>
          </a:prstGeom>
          <a:solidFill>
            <a:srgbClr val="142B46"/>
          </a:solidFill>
          <a:ln>
            <a:solidFill>
              <a:srgbClr val="30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527048"/>
            <a:ext cx="23682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CD4"/>
                </a:solidFill>
                <a:latin typeface="Aptos"/>
              </a:rPr>
              <a:t>FOUNDATION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892808"/>
            <a:ext cx="2368296" cy="277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BF5"/>
                </a:solidFill>
                <a:latin typeface="Aptos"/>
              </a:rPr>
              <a:t>0–3 MONTHS</a:t>
            </a:r>
            <a:br/>
            <a:br/>
            <a:r>
              <a:rPr sz="1100" b="0">
                <a:solidFill>
                  <a:srgbClr val="E2EBF5"/>
                </a:solidFill>
                <a:latin typeface="Aptos"/>
              </a:rPr>
              <a:t>Target use case</a:t>
            </a:r>
            <a:br/>
            <a:r>
              <a:rPr sz="1100" b="0">
                <a:solidFill>
                  <a:srgbClr val="E2EBF5"/>
                </a:solidFill>
                <a:latin typeface="Aptos"/>
              </a:rPr>
              <a:t>Data pipeline</a:t>
            </a:r>
            <a:br/>
            <a:r>
              <a:rPr sz="1100" b="0">
                <a:solidFill>
                  <a:srgbClr val="E2EBF5"/>
                </a:solidFill>
                <a:latin typeface="Aptos"/>
              </a:rPr>
              <a:t>EHR + wearable integration</a:t>
            </a:r>
            <a:br/>
            <a:r>
              <a:rPr sz="1100" b="0">
                <a:solidFill>
                  <a:srgbClr val="E2EBF5"/>
                </a:solidFill>
                <a:latin typeface="Aptos"/>
              </a:rPr>
              <a:t>Digital-twin 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8920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1A5B9"/>
                </a:solidFill>
                <a:latin typeface="Aptos"/>
              </a:rPr>
              <a:t>01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200400" y="3063240"/>
            <a:ext cx="210312" cy="0"/>
          </a:xfrm>
          <a:prstGeom prst="line">
            <a:avLst/>
          </a:prstGeom>
          <a:ln w="25400">
            <a:solidFill>
              <a:srgbClr val="00B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383280" y="1417320"/>
            <a:ext cx="2697480" cy="3337560"/>
          </a:xfrm>
          <a:prstGeom prst="roundRect">
            <a:avLst/>
          </a:prstGeom>
          <a:solidFill>
            <a:srgbClr val="142B46"/>
          </a:solidFill>
          <a:ln>
            <a:solidFill>
              <a:srgbClr val="30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47872" y="1527048"/>
            <a:ext cx="23682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877F2"/>
                </a:solidFill>
                <a:latin typeface="Aptos"/>
              </a:rPr>
              <a:t>AI PROTOTYPE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7872" y="1892808"/>
            <a:ext cx="2368296" cy="277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BF5"/>
                </a:solidFill>
                <a:latin typeface="Aptos"/>
              </a:rPr>
              <a:t>3–6 MONTHS</a:t>
            </a:r>
            <a:br/>
            <a:br/>
            <a:r>
              <a:rPr sz="1100" b="0">
                <a:solidFill>
                  <a:srgbClr val="E2EBF5"/>
                </a:solidFill>
                <a:latin typeface="Aptos"/>
              </a:rPr>
              <a:t>LSTM + XGBoost</a:t>
            </a:r>
            <a:br/>
            <a:r>
              <a:rPr sz="1100" b="0">
                <a:solidFill>
                  <a:srgbClr val="E2EBF5"/>
                </a:solidFill>
                <a:latin typeface="Aptos"/>
              </a:rPr>
              <a:t>Risk pipeline</a:t>
            </a:r>
            <a:br/>
            <a:r>
              <a:rPr sz="1100" b="0">
                <a:solidFill>
                  <a:srgbClr val="E2EBF5"/>
                </a:solidFill>
                <a:latin typeface="Aptos"/>
              </a:rPr>
              <a:t>SHAP explainability</a:t>
            </a:r>
            <a:br/>
            <a:r>
              <a:rPr sz="1100" b="0">
                <a:solidFill>
                  <a:srgbClr val="E2EBF5"/>
                </a:solidFill>
                <a:latin typeface="Aptos"/>
              </a:rPr>
              <a:t>Retrospective 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48920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1A5B9"/>
                </a:solidFill>
                <a:latin typeface="Aptos"/>
              </a:rPr>
              <a:t>02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80760" y="3063240"/>
            <a:ext cx="210312" cy="0"/>
          </a:xfrm>
          <a:prstGeom prst="line">
            <a:avLst/>
          </a:prstGeom>
          <a:ln w="25400">
            <a:solidFill>
              <a:srgbClr val="00B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263640" y="1417320"/>
            <a:ext cx="2697480" cy="3337560"/>
          </a:xfrm>
          <a:prstGeom prst="roundRect">
            <a:avLst/>
          </a:prstGeom>
          <a:solidFill>
            <a:srgbClr val="142B46"/>
          </a:solidFill>
          <a:ln>
            <a:solidFill>
              <a:srgbClr val="30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1" y="1527048"/>
            <a:ext cx="23682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BBE8B"/>
                </a:solidFill>
                <a:latin typeface="Aptos"/>
              </a:rPr>
              <a:t>CLINICAL PILOT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1" y="1892808"/>
            <a:ext cx="2368296" cy="277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BF5"/>
                </a:solidFill>
                <a:latin typeface="Aptos"/>
              </a:rPr>
              <a:t>6–12 MONTHS</a:t>
            </a:r>
            <a:br/>
            <a:br/>
            <a:r>
              <a:rPr sz="1100" b="0">
                <a:solidFill>
                  <a:srgbClr val="E2EBF5"/>
                </a:solidFill>
                <a:latin typeface="Aptos"/>
              </a:rPr>
              <a:t>Controlled deployment</a:t>
            </a:r>
            <a:br/>
            <a:r>
              <a:rPr sz="1100" b="0">
                <a:solidFill>
                  <a:srgbClr val="E2EBF5"/>
                </a:solidFill>
                <a:latin typeface="Aptos"/>
              </a:rPr>
              <a:t>Performance &amp; usability</a:t>
            </a:r>
            <a:br/>
            <a:r>
              <a:rPr sz="1100" b="0">
                <a:solidFill>
                  <a:srgbClr val="E2EBF5"/>
                </a:solidFill>
                <a:latin typeface="Aptos"/>
              </a:rPr>
              <a:t>False-alert monitoring</a:t>
            </a:r>
            <a:br/>
            <a:r>
              <a:rPr sz="1100" b="0">
                <a:solidFill>
                  <a:srgbClr val="E2EBF5"/>
                </a:solidFill>
                <a:latin typeface="Aptos"/>
              </a:rPr>
              <a:t>Clinician feedback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8920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1A5B9"/>
                </a:solidFill>
                <a:latin typeface="Aptos"/>
              </a:rPr>
              <a:t>03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961120" y="3063240"/>
            <a:ext cx="210312" cy="0"/>
          </a:xfrm>
          <a:prstGeom prst="line">
            <a:avLst/>
          </a:prstGeom>
          <a:ln w="25400">
            <a:solidFill>
              <a:srgbClr val="00B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144000" y="1417320"/>
            <a:ext cx="2697480" cy="3337560"/>
          </a:xfrm>
          <a:prstGeom prst="roundRect">
            <a:avLst/>
          </a:prstGeom>
          <a:solidFill>
            <a:srgbClr val="142B46"/>
          </a:solidFill>
          <a:ln>
            <a:solidFill>
              <a:srgbClr val="30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08592" y="1527048"/>
            <a:ext cx="23682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A5CE6"/>
                </a:solidFill>
                <a:latin typeface="Aptos"/>
              </a:rPr>
              <a:t>SCALE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08592" y="1892808"/>
            <a:ext cx="2368296" cy="277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BF5"/>
                </a:solidFill>
                <a:latin typeface="Aptos"/>
              </a:rPr>
              <a:t>12+ MONTHS</a:t>
            </a:r>
            <a:br/>
            <a:br/>
            <a:r>
              <a:rPr sz="1100" b="0">
                <a:solidFill>
                  <a:srgbClr val="E2EBF5"/>
                </a:solidFill>
                <a:latin typeface="Aptos"/>
              </a:rPr>
              <a:t>More conditions</a:t>
            </a:r>
            <a:br/>
            <a:r>
              <a:rPr sz="1100" b="0">
                <a:solidFill>
                  <a:srgbClr val="E2EBF5"/>
                </a:solidFill>
                <a:latin typeface="Aptos"/>
              </a:rPr>
              <a:t>More data sources</a:t>
            </a:r>
            <a:br/>
            <a:r>
              <a:rPr sz="1100" b="0">
                <a:solidFill>
                  <a:srgbClr val="E2EBF5"/>
                </a:solidFill>
                <a:latin typeface="Aptos"/>
              </a:rPr>
              <a:t>Scalable dashboards</a:t>
            </a:r>
            <a:br/>
            <a:r>
              <a:rPr sz="1100" b="0">
                <a:solidFill>
                  <a:srgbClr val="E2EBF5"/>
                </a:solidFill>
                <a:latin typeface="Aptos"/>
              </a:rPr>
              <a:t>Continuous monitoring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48920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1A5B9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6235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CD4"/>
                </a:solidFill>
                <a:latin typeface="Aptos"/>
              </a:rPr>
              <a:t>VISION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5559552"/>
            <a:ext cx="9784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BFF"/>
                </a:solidFill>
                <a:latin typeface="Aptos"/>
              </a:rPr>
              <a:t>A personalized digital twin that evolves with every meaningful change in a patient’s health.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